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Urbanist"/>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regular.fntdata"/><Relationship Id="rId11" Type="http://schemas.openxmlformats.org/officeDocument/2006/relationships/slide" Target="slides/slide6.xml"/><Relationship Id="rId22" Type="http://schemas.openxmlformats.org/officeDocument/2006/relationships/font" Target="fonts/Urbanist-italic.fntdata"/><Relationship Id="rId10" Type="http://schemas.openxmlformats.org/officeDocument/2006/relationships/slide" Target="slides/slide5.xml"/><Relationship Id="rId21" Type="http://schemas.openxmlformats.org/officeDocument/2006/relationships/font" Target="fonts/Urbanist-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Urbanis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9af27a5a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a9af27a5a2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9af27a5a2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a9af27a5a2_0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5.png"/><Relationship Id="rId9" Type="http://schemas.openxmlformats.org/officeDocument/2006/relationships/image" Target="../media/image27.png"/><Relationship Id="rId5" Type="http://schemas.openxmlformats.org/officeDocument/2006/relationships/image" Target="../media/image20.png"/><Relationship Id="rId6" Type="http://schemas.openxmlformats.org/officeDocument/2006/relationships/image" Target="../media/image30.png"/><Relationship Id="rId7" Type="http://schemas.openxmlformats.org/officeDocument/2006/relationships/image" Target="../media/image22.png"/><Relationship Id="rId8"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571500" y="1840408"/>
            <a:ext cx="8001000" cy="1508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400" u="none" cap="none" strike="noStrike">
                <a:solidFill>
                  <a:srgbClr val="F5F5F5"/>
                </a:solidFill>
                <a:latin typeface="Urbanist"/>
                <a:ea typeface="Urbanist"/>
                <a:cs typeface="Urbanist"/>
                <a:sym typeface="Urbanist"/>
              </a:rPr>
              <a:t>SIFT &amp; </a:t>
            </a:r>
            <a:br>
              <a:rPr b="0" i="0" lang="en-US" sz="1800" u="none" cap="none" strike="noStrike">
                <a:solidFill>
                  <a:schemeClr val="dk1"/>
                </a:solidFill>
                <a:latin typeface="Calibri"/>
                <a:ea typeface="Calibri"/>
                <a:cs typeface="Calibri"/>
                <a:sym typeface="Calibri"/>
              </a:rPr>
            </a:br>
            <a:r>
              <a:rPr b="1" i="0" lang="en-US" sz="5400" u="none" cap="none" strike="noStrike">
                <a:solidFill>
                  <a:srgbClr val="DEFF9A"/>
                </a:solidFill>
                <a:latin typeface="Urbanist"/>
                <a:ea typeface="Urbanist"/>
                <a:cs typeface="Urbanist"/>
                <a:sym typeface="Urbanist"/>
              </a:rPr>
              <a:t>Ghép Ảnh Panorama</a:t>
            </a:r>
            <a:endParaRPr/>
          </a:p>
        </p:txBody>
      </p:sp>
      <p:sp>
        <p:nvSpPr>
          <p:cNvPr id="86" name="Google Shape;86;p13"/>
          <p:cNvSpPr/>
          <p:nvPr/>
        </p:nvSpPr>
        <p:spPr>
          <a:xfrm>
            <a:off x="571500" y="3634680"/>
            <a:ext cx="952500" cy="38100"/>
          </a:xfrm>
          <a:prstGeom prst="rect">
            <a:avLst/>
          </a:prstGeom>
          <a:solidFill>
            <a:srgbClr val="DEFF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txBox="1"/>
          <p:nvPr/>
        </p:nvSpPr>
        <p:spPr>
          <a:xfrm>
            <a:off x="571500" y="4149030"/>
            <a:ext cx="7620000" cy="639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E0E0E0"/>
                </a:solidFill>
                <a:latin typeface="Urbanist"/>
                <a:ea typeface="Urbanist"/>
                <a:cs typeface="Urbanist"/>
                <a:sym typeface="Urbanist"/>
              </a:rPr>
              <a:t>Tìm hiểu chi tiết về thuật toán Scale-Invariant Feature Transform và quy trình tạo ảnh toàn cảnh từ tài liệu kỹ thuật.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 name="Google Shape;93;p14"/>
          <p:cNvPicPr preferRelativeResize="0"/>
          <p:nvPr/>
        </p:nvPicPr>
        <p:blipFill rotWithShape="1">
          <a:blip r:embed="rId4">
            <a:alphaModFix/>
          </a:blip>
          <a:srcRect b="0" l="0" r="0" t="0"/>
          <a:stretch/>
        </p:blipFill>
        <p:spPr>
          <a:xfrm>
            <a:off x="571500" y="1405830"/>
            <a:ext cx="5238750" cy="5071169"/>
          </a:xfrm>
          <a:prstGeom prst="rect">
            <a:avLst/>
          </a:prstGeom>
          <a:noFill/>
          <a:ln>
            <a:noFill/>
          </a:ln>
        </p:spPr>
      </p:pic>
      <p:pic>
        <p:nvPicPr>
          <p:cNvPr descr="image.png" id="94" name="Google Shape;94;p14"/>
          <p:cNvPicPr preferRelativeResize="0"/>
          <p:nvPr/>
        </p:nvPicPr>
        <p:blipFill rotWithShape="1">
          <a:blip r:embed="rId5">
            <a:alphaModFix/>
          </a:blip>
          <a:srcRect b="0" l="0" r="0" t="0"/>
          <a:stretch/>
        </p:blipFill>
        <p:spPr>
          <a:xfrm>
            <a:off x="6381750" y="1405830"/>
            <a:ext cx="5238750" cy="5071169"/>
          </a:xfrm>
          <a:prstGeom prst="rect">
            <a:avLst/>
          </a:prstGeom>
          <a:noFill/>
          <a:ln>
            <a:noFill/>
          </a:ln>
        </p:spPr>
      </p:pic>
      <p:sp>
        <p:nvSpPr>
          <p:cNvPr id="95" name="Google Shape;95;p14"/>
          <p:cNvSpPr txBox="1"/>
          <p:nvPr/>
        </p:nvSpPr>
        <p:spPr>
          <a:xfrm>
            <a:off x="962025" y="2907952"/>
            <a:ext cx="4680600" cy="32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1. SIFT (Phát hiện đặc trưng)</a:t>
            </a:r>
            <a:endParaRPr/>
          </a:p>
        </p:txBody>
      </p:sp>
      <p:sp>
        <p:nvSpPr>
          <p:cNvPr id="96" name="Google Shape;96;p14"/>
          <p:cNvSpPr txBox="1"/>
          <p:nvPr/>
        </p:nvSpPr>
        <p:spPr>
          <a:xfrm>
            <a:off x="962025" y="3565177"/>
            <a:ext cx="445770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Mục tiêu là tìm các điểm đặc biệt (Keypoints) và bộ mô tả (Descriptors) trên từng ảnh riêng lẻ. Thuật toán này phải đảm bảo tính </a:t>
            </a:r>
            <a:r>
              <a:rPr b="1" i="0" lang="en-US" sz="1500" u="none" cap="none" strike="noStrike">
                <a:solidFill>
                  <a:srgbClr val="DEFF9A"/>
                </a:solidFill>
                <a:latin typeface="Urbanist"/>
                <a:ea typeface="Urbanist"/>
                <a:cs typeface="Urbanist"/>
                <a:sym typeface="Urbanist"/>
              </a:rPr>
              <a:t>bất biến</a:t>
            </a:r>
            <a:r>
              <a:rPr b="0" i="0" lang="en-US" sz="1500" u="none" cap="none" strike="noStrike">
                <a:solidFill>
                  <a:srgbClr val="E0E0E0"/>
                </a:solidFill>
                <a:latin typeface="Urbanist"/>
                <a:ea typeface="Urbanist"/>
                <a:cs typeface="Urbanist"/>
                <a:sym typeface="Urbanist"/>
              </a:rPr>
              <a:t> với tỷ lệ và góc quay.</a:t>
            </a:r>
            <a:endParaRPr/>
          </a:p>
        </p:txBody>
      </p:sp>
      <p:sp>
        <p:nvSpPr>
          <p:cNvPr id="97" name="Google Shape;97;p14"/>
          <p:cNvSpPr txBox="1"/>
          <p:nvPr/>
        </p:nvSpPr>
        <p:spPr>
          <a:xfrm>
            <a:off x="6772275" y="2907952"/>
            <a:ext cx="4680600" cy="32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2. Panorama (Ghép ảnh)</a:t>
            </a:r>
            <a:endParaRPr/>
          </a:p>
        </p:txBody>
      </p:sp>
      <p:sp>
        <p:nvSpPr>
          <p:cNvPr id="98" name="Google Shape;98;p14"/>
          <p:cNvSpPr txBox="1"/>
          <p:nvPr/>
        </p:nvSpPr>
        <p:spPr>
          <a:xfrm>
            <a:off x="6772275" y="3565177"/>
            <a:ext cx="445770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Sử dụng các đặc trưng đã tìm được để đối sánh, tính toán ma trận biến đổi (Homography), sau đó thực hiện "bẻ cong" (warp) và pha trộn (blend) để tạo thành một bức ảnh duy nhất.</a:t>
            </a:r>
            <a:endParaRPr/>
          </a:p>
        </p:txBody>
      </p:sp>
      <p:sp>
        <p:nvSpPr>
          <p:cNvPr id="99" name="Google Shape;99;p14"/>
          <p:cNvSpPr txBox="1"/>
          <p:nvPr/>
        </p:nvSpPr>
        <p:spPr>
          <a:xfrm>
            <a:off x="571500" y="381000"/>
            <a:ext cx="11601600" cy="548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Tổng quan vấn đề</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image.png" id="104" name="Google Shape;104;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5" name="Google Shape;105;p15"/>
          <p:cNvSpPr txBox="1"/>
          <p:nvPr/>
        </p:nvSpPr>
        <p:spPr>
          <a:xfrm>
            <a:off x="571500" y="2064990"/>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Scale-Invariant Feature Transform</a:t>
            </a:r>
            <a:r>
              <a:rPr b="0" i="0" lang="en-US" sz="1500" u="none" cap="none" strike="noStrike">
                <a:solidFill>
                  <a:srgbClr val="E0E0E0"/>
                </a:solidFill>
                <a:latin typeface="Urbanist"/>
                <a:ea typeface="Urbanist"/>
                <a:cs typeface="Urbanist"/>
                <a:sym typeface="Urbanist"/>
              </a:rPr>
              <a:t> là thuật toán dùng để phát hiện các keypoint bất biến với tỷ lệ và góc quay.</a:t>
            </a:r>
            <a:endParaRPr/>
          </a:p>
        </p:txBody>
      </p:sp>
      <p:sp>
        <p:nvSpPr>
          <p:cNvPr id="106" name="Google Shape;106;p15"/>
          <p:cNvSpPr txBox="1"/>
          <p:nvPr/>
        </p:nvSpPr>
        <p:spPr>
          <a:xfrm>
            <a:off x="571500" y="3046065"/>
            <a:ext cx="5200800" cy="32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Keypoint (Điểm khóa)</a:t>
            </a:r>
            <a:endParaRPr/>
          </a:p>
        </p:txBody>
      </p:sp>
      <p:sp>
        <p:nvSpPr>
          <p:cNvPr id="107" name="Google Shape;107;p15"/>
          <p:cNvSpPr txBox="1"/>
          <p:nvPr/>
        </p:nvSpPr>
        <p:spPr>
          <a:xfrm>
            <a:off x="571500" y="3703290"/>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Là một điểm nổi bật trong hình ảnh (ví dụ: góc, đỉnh). Mỗi keypoint được xác định bởi:</a:t>
            </a:r>
            <a:endParaRPr/>
          </a:p>
        </p:txBody>
      </p:sp>
      <p:sp>
        <p:nvSpPr>
          <p:cNvPr id="108" name="Google Shape;108;p15"/>
          <p:cNvSpPr txBox="1"/>
          <p:nvPr/>
        </p:nvSpPr>
        <p:spPr>
          <a:xfrm>
            <a:off x="914400" y="4655790"/>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a:t>
            </a:r>
            <a:endParaRPr/>
          </a:p>
        </p:txBody>
      </p:sp>
      <p:sp>
        <p:nvSpPr>
          <p:cNvPr id="109" name="Google Shape;109;p15"/>
          <p:cNvSpPr txBox="1"/>
          <p:nvPr/>
        </p:nvSpPr>
        <p:spPr>
          <a:xfrm>
            <a:off x="952500" y="4655790"/>
            <a:ext cx="4572000"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Vị trí (x, y)</a:t>
            </a:r>
            <a:endParaRPr/>
          </a:p>
        </p:txBody>
      </p:sp>
      <p:sp>
        <p:nvSpPr>
          <p:cNvPr id="110" name="Google Shape;110;p15"/>
          <p:cNvSpPr txBox="1"/>
          <p:nvPr/>
        </p:nvSpPr>
        <p:spPr>
          <a:xfrm>
            <a:off x="914400" y="4960590"/>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a:t>
            </a:r>
            <a:endParaRPr/>
          </a:p>
        </p:txBody>
      </p:sp>
      <p:sp>
        <p:nvSpPr>
          <p:cNvPr id="111" name="Google Shape;111;p15"/>
          <p:cNvSpPr txBox="1"/>
          <p:nvPr/>
        </p:nvSpPr>
        <p:spPr>
          <a:xfrm>
            <a:off x="952500" y="4960590"/>
            <a:ext cx="4572000"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Tỷ lệ (Scale)</a:t>
            </a:r>
            <a:endParaRPr/>
          </a:p>
        </p:txBody>
      </p:sp>
      <p:sp>
        <p:nvSpPr>
          <p:cNvPr id="112" name="Google Shape;112;p15"/>
          <p:cNvSpPr txBox="1"/>
          <p:nvPr/>
        </p:nvSpPr>
        <p:spPr>
          <a:xfrm>
            <a:off x="914400" y="5265390"/>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a:t>
            </a:r>
            <a:endParaRPr/>
          </a:p>
        </p:txBody>
      </p:sp>
      <p:sp>
        <p:nvSpPr>
          <p:cNvPr id="113" name="Google Shape;113;p15"/>
          <p:cNvSpPr txBox="1"/>
          <p:nvPr/>
        </p:nvSpPr>
        <p:spPr>
          <a:xfrm>
            <a:off x="952500" y="5265390"/>
            <a:ext cx="4572000"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Hướng (Orientation)</a:t>
            </a:r>
            <a:endParaRPr/>
          </a:p>
        </p:txBody>
      </p:sp>
      <p:sp>
        <p:nvSpPr>
          <p:cNvPr id="114" name="Google Shape;114;p15"/>
          <p:cNvSpPr txBox="1"/>
          <p:nvPr/>
        </p:nvSpPr>
        <p:spPr>
          <a:xfrm>
            <a:off x="571500" y="571500"/>
            <a:ext cx="5200800" cy="548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SIFT là gì?</a:t>
            </a:r>
            <a:endParaRPr/>
          </a:p>
        </p:txBody>
      </p:sp>
      <p:pic>
        <p:nvPicPr>
          <p:cNvPr id="115" name="Google Shape;115;p15"/>
          <p:cNvPicPr preferRelativeResize="0"/>
          <p:nvPr/>
        </p:nvPicPr>
        <p:blipFill>
          <a:blip r:embed="rId4">
            <a:alphaModFix/>
          </a:blip>
          <a:stretch>
            <a:fillRect/>
          </a:stretch>
        </p:blipFill>
        <p:spPr>
          <a:xfrm>
            <a:off x="8712875" y="491375"/>
            <a:ext cx="2829900" cy="5757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descr="image.png" id="120" name="Google Shape;120;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1" name="Google Shape;121;p16"/>
          <p:cNvPicPr preferRelativeResize="0"/>
          <p:nvPr/>
        </p:nvPicPr>
        <p:blipFill rotWithShape="1">
          <a:blip r:embed="rId4">
            <a:alphaModFix/>
          </a:blip>
          <a:srcRect b="0" l="0" r="0" t="0"/>
          <a:stretch/>
        </p:blipFill>
        <p:spPr>
          <a:xfrm>
            <a:off x="6334125" y="1798290"/>
            <a:ext cx="5286375" cy="4286250"/>
          </a:xfrm>
          <a:prstGeom prst="rect">
            <a:avLst/>
          </a:prstGeom>
          <a:noFill/>
          <a:ln>
            <a:noFill/>
          </a:ln>
        </p:spPr>
      </p:pic>
      <p:sp>
        <p:nvSpPr>
          <p:cNvPr id="122" name="Google Shape;122;p16"/>
          <p:cNvSpPr txBox="1"/>
          <p:nvPr/>
        </p:nvSpPr>
        <p:spPr>
          <a:xfrm>
            <a:off x="571500" y="2313533"/>
            <a:ext cx="5550693"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Mục tiêu</a:t>
            </a:r>
            <a:endParaRPr/>
          </a:p>
        </p:txBody>
      </p:sp>
      <p:sp>
        <p:nvSpPr>
          <p:cNvPr id="123" name="Google Shape;123;p16"/>
          <p:cNvSpPr txBox="1"/>
          <p:nvPr/>
        </p:nvSpPr>
        <p:spPr>
          <a:xfrm>
            <a:off x="571500" y="2827883"/>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Tìm đặc trưng ổn định ở mọi kích thước ảnh bằng cách làm mờ Gaussian và giảm kích thước (Downsampling).</a:t>
            </a:r>
            <a:endParaRPr/>
          </a:p>
        </p:txBody>
      </p:sp>
      <p:sp>
        <p:nvSpPr>
          <p:cNvPr id="124" name="Google Shape;124;p16"/>
          <p:cNvSpPr txBox="1"/>
          <p:nvPr/>
        </p:nvSpPr>
        <p:spPr>
          <a:xfrm>
            <a:off x="571500" y="3808958"/>
            <a:ext cx="5550693"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Cấu trúc Octave (Quãng tám)</a:t>
            </a:r>
            <a:endParaRPr/>
          </a:p>
        </p:txBody>
      </p:sp>
      <p:sp>
        <p:nvSpPr>
          <p:cNvPr id="125" name="Google Shape;125;p16"/>
          <p:cNvSpPr txBox="1"/>
          <p:nvPr/>
        </p:nvSpPr>
        <p:spPr>
          <a:xfrm>
            <a:off x="571500" y="4323308"/>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Mỗi octave là một mức độ thu nhỏ của ảnh. Bên trong mỗi octave, ảnh được làm mờ với các tỷ lệ Gaussian khác nhau.</a:t>
            </a:r>
            <a:endParaRPr/>
          </a:p>
        </p:txBody>
      </p:sp>
      <p:sp>
        <p:nvSpPr>
          <p:cNvPr id="126" name="Google Shape;126;p16"/>
          <p:cNvSpPr txBox="1"/>
          <p:nvPr/>
        </p:nvSpPr>
        <p:spPr>
          <a:xfrm>
            <a:off x="571500" y="5123408"/>
            <a:ext cx="52863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350" u="none" cap="none" strike="noStrike">
                <a:solidFill>
                  <a:srgbClr val="DEFF9A"/>
                </a:solidFill>
                <a:latin typeface="Urbanist"/>
                <a:ea typeface="Urbanist"/>
                <a:cs typeface="Urbanist"/>
                <a:sym typeface="Urbanist"/>
              </a:rPr>
              <a:t>*Cần s+3 ảnh mờ cho mỗi quãng để tạo đủ ảnh hiệu.</a:t>
            </a:r>
            <a:endParaRPr/>
          </a:p>
        </p:txBody>
      </p:sp>
      <p:pic>
        <p:nvPicPr>
          <p:cNvPr descr="image.png" id="127" name="Google Shape;127;p16"/>
          <p:cNvPicPr preferRelativeResize="0"/>
          <p:nvPr/>
        </p:nvPicPr>
        <p:blipFill rotWithShape="1">
          <a:blip r:embed="rId5">
            <a:alphaModFix/>
          </a:blip>
          <a:srcRect b="0" l="0" r="0" t="0"/>
          <a:stretch/>
        </p:blipFill>
        <p:spPr>
          <a:xfrm>
            <a:off x="6343650" y="1807815"/>
            <a:ext cx="5267325" cy="4267200"/>
          </a:xfrm>
          <a:prstGeom prst="rect">
            <a:avLst/>
          </a:prstGeom>
          <a:noFill/>
          <a:ln>
            <a:noFill/>
          </a:ln>
        </p:spPr>
      </p:pic>
      <p:sp>
        <p:nvSpPr>
          <p:cNvPr id="128" name="Google Shape;128;p16"/>
          <p:cNvSpPr txBox="1"/>
          <p:nvPr/>
        </p:nvSpPr>
        <p:spPr>
          <a:xfrm>
            <a:off x="571500" y="3810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Bước 1: Xây dựng Không gian Tỷ lệ</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descr="image.png" id="133" name="Google Shape;133;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4" name="Google Shape;134;p17"/>
          <p:cNvPicPr preferRelativeResize="0"/>
          <p:nvPr/>
        </p:nvPicPr>
        <p:blipFill rotWithShape="1">
          <a:blip r:embed="rId4">
            <a:alphaModFix/>
          </a:blip>
          <a:srcRect b="0" l="0" r="0" t="0"/>
          <a:stretch/>
        </p:blipFill>
        <p:spPr>
          <a:xfrm>
            <a:off x="6334125" y="1798290"/>
            <a:ext cx="5286375" cy="4286250"/>
          </a:xfrm>
          <a:prstGeom prst="rect">
            <a:avLst/>
          </a:prstGeom>
          <a:noFill/>
          <a:ln>
            <a:noFill/>
          </a:ln>
        </p:spPr>
      </p:pic>
      <p:sp>
        <p:nvSpPr>
          <p:cNvPr id="135" name="Google Shape;135;p17"/>
          <p:cNvSpPr txBox="1"/>
          <p:nvPr/>
        </p:nvSpPr>
        <p:spPr>
          <a:xfrm>
            <a:off x="571500" y="2003077"/>
            <a:ext cx="5550693"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Difference of Gaussians</a:t>
            </a:r>
            <a:endParaRPr/>
          </a:p>
        </p:txBody>
      </p:sp>
      <p:sp>
        <p:nvSpPr>
          <p:cNvPr id="136" name="Google Shape;136;p17"/>
          <p:cNvSpPr txBox="1"/>
          <p:nvPr/>
        </p:nvSpPr>
        <p:spPr>
          <a:xfrm>
            <a:off x="571500" y="2517427"/>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DoG được tạo ra bằng cách lấy ảnh mờ này trừ đi ảnh mờ hơn trong cùng một quãng tám.</a:t>
            </a:r>
            <a:endParaRPr/>
          </a:p>
        </p:txBody>
      </p:sp>
      <p:sp>
        <p:nvSpPr>
          <p:cNvPr id="137" name="Google Shape;137;p17"/>
          <p:cNvSpPr txBox="1"/>
          <p:nvPr/>
        </p:nvSpPr>
        <p:spPr>
          <a:xfrm>
            <a:off x="571500" y="3498502"/>
            <a:ext cx="5550693"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Tại sao dùng DoG?</a:t>
            </a:r>
            <a:endParaRPr/>
          </a:p>
        </p:txBody>
      </p:sp>
      <p:sp>
        <p:nvSpPr>
          <p:cNvPr id="138" name="Google Shape;138;p17"/>
          <p:cNvSpPr txBox="1"/>
          <p:nvPr/>
        </p:nvSpPr>
        <p:spPr>
          <a:xfrm>
            <a:off x="571500" y="5079652"/>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SIFT chỉ tìm keypoint ở các ảnh hiệu nằm giữa (không dùng ảnh đệm đầu/cuối).</a:t>
            </a:r>
            <a:endParaRPr/>
          </a:p>
        </p:txBody>
      </p:sp>
      <p:pic>
        <p:nvPicPr>
          <p:cNvPr descr="image.png" id="139" name="Google Shape;139;p17"/>
          <p:cNvPicPr preferRelativeResize="0"/>
          <p:nvPr/>
        </p:nvPicPr>
        <p:blipFill rotWithShape="1">
          <a:blip r:embed="rId5">
            <a:alphaModFix/>
          </a:blip>
          <a:srcRect b="0" l="0" r="0" t="0"/>
          <a:stretch/>
        </p:blipFill>
        <p:spPr>
          <a:xfrm>
            <a:off x="6343650" y="1807815"/>
            <a:ext cx="5267325" cy="4267200"/>
          </a:xfrm>
          <a:prstGeom prst="rect">
            <a:avLst/>
          </a:prstGeom>
          <a:noFill/>
          <a:ln>
            <a:noFill/>
          </a:ln>
        </p:spPr>
      </p:pic>
      <p:sp>
        <p:nvSpPr>
          <p:cNvPr id="140" name="Google Shape;140;p17"/>
          <p:cNvSpPr txBox="1"/>
          <p:nvPr/>
        </p:nvSpPr>
        <p:spPr>
          <a:xfrm>
            <a:off x="914400" y="3974752"/>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a:t>
            </a:r>
            <a:endParaRPr/>
          </a:p>
        </p:txBody>
      </p:sp>
      <p:sp>
        <p:nvSpPr>
          <p:cNvPr id="141" name="Google Shape;141;p17"/>
          <p:cNvSpPr txBox="1"/>
          <p:nvPr/>
        </p:nvSpPr>
        <p:spPr>
          <a:xfrm>
            <a:off x="952500" y="3974752"/>
            <a:ext cx="490537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Giúp phát hiện cạnh và đốm (blobs) hiệu quả.</a:t>
            </a:r>
            <a:endParaRPr/>
          </a:p>
        </p:txBody>
      </p:sp>
      <p:sp>
        <p:nvSpPr>
          <p:cNvPr id="142" name="Google Shape;142;p17"/>
          <p:cNvSpPr txBox="1"/>
          <p:nvPr/>
        </p:nvSpPr>
        <p:spPr>
          <a:xfrm>
            <a:off x="914400" y="4279552"/>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a:t>
            </a:r>
            <a:endParaRPr/>
          </a:p>
        </p:txBody>
      </p:sp>
      <p:sp>
        <p:nvSpPr>
          <p:cNvPr id="143" name="Google Shape;143;p17"/>
          <p:cNvSpPr txBox="1"/>
          <p:nvPr/>
        </p:nvSpPr>
        <p:spPr>
          <a:xfrm>
            <a:off x="952500" y="4279552"/>
            <a:ext cx="490537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Vùng phẳng sẽ có giá trị gần 0 (màu đen).</a:t>
            </a:r>
            <a:endParaRPr/>
          </a:p>
        </p:txBody>
      </p:sp>
      <p:sp>
        <p:nvSpPr>
          <p:cNvPr id="144" name="Google Shape;144;p17"/>
          <p:cNvSpPr txBox="1"/>
          <p:nvPr/>
        </p:nvSpPr>
        <p:spPr>
          <a:xfrm>
            <a:off x="914400" y="4584352"/>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a:t>
            </a:r>
            <a:endParaRPr/>
          </a:p>
        </p:txBody>
      </p:sp>
      <p:sp>
        <p:nvSpPr>
          <p:cNvPr id="145" name="Google Shape;145;p17"/>
          <p:cNvSpPr txBox="1"/>
          <p:nvPr/>
        </p:nvSpPr>
        <p:spPr>
          <a:xfrm>
            <a:off x="952500" y="4584352"/>
            <a:ext cx="490537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Cạnh và chi tiết sẽ nổi bật lên.</a:t>
            </a:r>
            <a:endParaRPr/>
          </a:p>
        </p:txBody>
      </p:sp>
      <p:sp>
        <p:nvSpPr>
          <p:cNvPr id="146" name="Google Shape;146;p17"/>
          <p:cNvSpPr txBox="1"/>
          <p:nvPr/>
        </p:nvSpPr>
        <p:spPr>
          <a:xfrm>
            <a:off x="571500" y="3810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Bước 2: Ảnh hiệu DoG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descr="image.png" id="151" name="Google Shape;151;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2" name="Google Shape;152;p18"/>
          <p:cNvPicPr preferRelativeResize="0"/>
          <p:nvPr/>
        </p:nvPicPr>
        <p:blipFill rotWithShape="1">
          <a:blip r:embed="rId4">
            <a:alphaModFix/>
          </a:blip>
          <a:srcRect b="0" l="0" r="0" t="0"/>
          <a:stretch/>
        </p:blipFill>
        <p:spPr>
          <a:xfrm>
            <a:off x="6096000" y="0"/>
            <a:ext cx="6096000" cy="6858000"/>
          </a:xfrm>
          <a:prstGeom prst="rect">
            <a:avLst/>
          </a:prstGeom>
          <a:noFill/>
          <a:ln>
            <a:noFill/>
          </a:ln>
        </p:spPr>
      </p:pic>
      <p:sp>
        <p:nvSpPr>
          <p:cNvPr id="153" name="Google Shape;153;p18"/>
          <p:cNvSpPr txBox="1"/>
          <p:nvPr/>
        </p:nvSpPr>
        <p:spPr>
          <a:xfrm>
            <a:off x="571500" y="2086867"/>
            <a:ext cx="49530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Mục tiêu: Tìm các pixel có giá trị lớn nhất (sáng nhất) hoặc nhỏ nhất (tối nhất) trong vùng lân cận không gian 3D.</a:t>
            </a:r>
            <a:endParaRPr/>
          </a:p>
        </p:txBody>
      </p:sp>
      <p:sp>
        <p:nvSpPr>
          <p:cNvPr id="154" name="Google Shape;154;p18"/>
          <p:cNvSpPr txBox="1"/>
          <p:nvPr/>
        </p:nvSpPr>
        <p:spPr>
          <a:xfrm>
            <a:off x="571500" y="3248917"/>
            <a:ext cx="4953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Mỗi pixel sẽ được so sánh với </a:t>
            </a:r>
            <a:r>
              <a:rPr b="1" i="0" lang="en-US" sz="1500" u="none" cap="none" strike="noStrike">
                <a:solidFill>
                  <a:srgbClr val="DEFF9A"/>
                </a:solidFill>
                <a:latin typeface="Urbanist"/>
                <a:ea typeface="Urbanist"/>
                <a:cs typeface="Urbanist"/>
                <a:sym typeface="Urbanist"/>
              </a:rPr>
              <a:t>26 điểm hàng xóm</a:t>
            </a:r>
            <a:r>
              <a:rPr b="0" i="0" lang="en-US" sz="1500" u="none" cap="none" strike="noStrike">
                <a:solidFill>
                  <a:srgbClr val="E0E0E0"/>
                </a:solidFill>
                <a:latin typeface="Urbanist"/>
                <a:ea typeface="Urbanist"/>
                <a:cs typeface="Urbanist"/>
                <a:sym typeface="Urbanist"/>
              </a:rPr>
              <a:t>:</a:t>
            </a:r>
            <a:endParaRPr/>
          </a:p>
        </p:txBody>
      </p:sp>
      <p:sp>
        <p:nvSpPr>
          <p:cNvPr id="155" name="Google Shape;155;p18"/>
          <p:cNvSpPr txBox="1"/>
          <p:nvPr/>
        </p:nvSpPr>
        <p:spPr>
          <a:xfrm>
            <a:off x="571500" y="5449192"/>
            <a:ext cx="49530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500" u="none" cap="none" strike="noStrike">
                <a:solidFill>
                  <a:srgbClr val="DEFF9A"/>
                </a:solidFill>
                <a:latin typeface="Urbanist"/>
                <a:ea typeface="Urbanist"/>
                <a:cs typeface="Urbanist"/>
                <a:sym typeface="Urbanist"/>
              </a:rPr>
              <a:t>Điều kiện: Nếu pixel P lớn hơn (hoặc nhỏ hơn) TẤT CẢ 26 điểm này -&gt; Chọn làm Keypoint ứng viên.</a:t>
            </a:r>
            <a:endParaRPr/>
          </a:p>
        </p:txBody>
      </p:sp>
      <p:sp>
        <p:nvSpPr>
          <p:cNvPr id="156" name="Google Shape;156;p18"/>
          <p:cNvSpPr txBox="1"/>
          <p:nvPr/>
        </p:nvSpPr>
        <p:spPr>
          <a:xfrm>
            <a:off x="857250" y="3744217"/>
            <a:ext cx="46674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8 điểm</a:t>
            </a:r>
            <a:r>
              <a:rPr b="0" i="0" lang="en-US" sz="1500" u="none" cap="none" strike="noStrike">
                <a:solidFill>
                  <a:srgbClr val="E0E0E0"/>
                </a:solidFill>
                <a:latin typeface="Urbanist"/>
                <a:ea typeface="Urbanist"/>
                <a:cs typeface="Urbanist"/>
                <a:sym typeface="Urbanist"/>
              </a:rPr>
              <a:t> lân cận trên cùng một ảnh (Current Scale).</a:t>
            </a:r>
            <a:endParaRPr/>
          </a:p>
        </p:txBody>
      </p:sp>
      <p:sp>
        <p:nvSpPr>
          <p:cNvPr id="157" name="Google Shape;157;p18"/>
          <p:cNvSpPr txBox="1"/>
          <p:nvPr/>
        </p:nvSpPr>
        <p:spPr>
          <a:xfrm>
            <a:off x="857250" y="4191892"/>
            <a:ext cx="46674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9 điểm</a:t>
            </a:r>
            <a:r>
              <a:rPr b="0" i="0" lang="en-US" sz="1500" u="none" cap="none" strike="noStrike">
                <a:solidFill>
                  <a:srgbClr val="E0E0E0"/>
                </a:solidFill>
                <a:latin typeface="Urbanist"/>
                <a:ea typeface="Urbanist"/>
                <a:cs typeface="Urbanist"/>
                <a:sym typeface="Urbanist"/>
              </a:rPr>
              <a:t> lân cận ở ảnh tầng trên (Scale Up).</a:t>
            </a:r>
            <a:endParaRPr/>
          </a:p>
        </p:txBody>
      </p:sp>
      <p:sp>
        <p:nvSpPr>
          <p:cNvPr id="158" name="Google Shape;158;p18"/>
          <p:cNvSpPr txBox="1"/>
          <p:nvPr/>
        </p:nvSpPr>
        <p:spPr>
          <a:xfrm>
            <a:off x="857250" y="4639567"/>
            <a:ext cx="46674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9 điểm</a:t>
            </a:r>
            <a:r>
              <a:rPr b="0" i="0" lang="en-US" sz="1500" u="none" cap="none" strike="noStrike">
                <a:solidFill>
                  <a:srgbClr val="E0E0E0"/>
                </a:solidFill>
                <a:latin typeface="Urbanist"/>
                <a:ea typeface="Urbanist"/>
                <a:cs typeface="Urbanist"/>
                <a:sym typeface="Urbanist"/>
              </a:rPr>
              <a:t> lân cận ở ảnh tầng dưới (Scale Down).</a:t>
            </a:r>
            <a:endParaRPr/>
          </a:p>
        </p:txBody>
      </p:sp>
      <p:sp>
        <p:nvSpPr>
          <p:cNvPr id="159" name="Google Shape;159;p18"/>
          <p:cNvSpPr txBox="1"/>
          <p:nvPr/>
        </p:nvSpPr>
        <p:spPr>
          <a:xfrm>
            <a:off x="571500" y="608707"/>
            <a:ext cx="5200800" cy="1219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Bước 3: Phát hiện Cực trị (Extrema Detection)</a:t>
            </a:r>
            <a:endParaRPr/>
          </a:p>
        </p:txBody>
      </p:sp>
      <p:pic>
        <p:nvPicPr>
          <p:cNvPr descr="image.png" id="160" name="Google Shape;160;p18"/>
          <p:cNvPicPr preferRelativeResize="0"/>
          <p:nvPr/>
        </p:nvPicPr>
        <p:blipFill rotWithShape="1">
          <a:blip r:embed="rId5">
            <a:alphaModFix/>
          </a:blip>
          <a:srcRect b="0" l="0" r="0" t="0"/>
          <a:stretch/>
        </p:blipFill>
        <p:spPr>
          <a:xfrm>
            <a:off x="571500" y="3782317"/>
            <a:ext cx="190500" cy="200025"/>
          </a:xfrm>
          <a:prstGeom prst="rect">
            <a:avLst/>
          </a:prstGeom>
          <a:noFill/>
          <a:ln>
            <a:noFill/>
          </a:ln>
        </p:spPr>
      </p:pic>
      <p:pic>
        <p:nvPicPr>
          <p:cNvPr descr="image.png" id="161" name="Google Shape;161;p18"/>
          <p:cNvPicPr preferRelativeResize="0"/>
          <p:nvPr/>
        </p:nvPicPr>
        <p:blipFill rotWithShape="1">
          <a:blip r:embed="rId5">
            <a:alphaModFix/>
          </a:blip>
          <a:srcRect b="0" l="0" r="0" t="0"/>
          <a:stretch/>
        </p:blipFill>
        <p:spPr>
          <a:xfrm>
            <a:off x="571500" y="4229992"/>
            <a:ext cx="190500" cy="200025"/>
          </a:xfrm>
          <a:prstGeom prst="rect">
            <a:avLst/>
          </a:prstGeom>
          <a:noFill/>
          <a:ln>
            <a:noFill/>
          </a:ln>
        </p:spPr>
      </p:pic>
      <p:pic>
        <p:nvPicPr>
          <p:cNvPr descr="image.png" id="162" name="Google Shape;162;p18"/>
          <p:cNvPicPr preferRelativeResize="0"/>
          <p:nvPr/>
        </p:nvPicPr>
        <p:blipFill rotWithShape="1">
          <a:blip r:embed="rId5">
            <a:alphaModFix/>
          </a:blip>
          <a:srcRect b="0" l="0" r="0" t="0"/>
          <a:stretch/>
        </p:blipFill>
        <p:spPr>
          <a:xfrm>
            <a:off x="571500" y="4677667"/>
            <a:ext cx="190500" cy="200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descr="image.png" id="167" name="Google Shape;167;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8" name="Google Shape;168;p19"/>
          <p:cNvSpPr txBox="1"/>
          <p:nvPr/>
        </p:nvSpPr>
        <p:spPr>
          <a:xfrm>
            <a:off x="571500" y="3131790"/>
            <a:ext cx="550068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Loại bỏ điểm kém chất lượng</a:t>
            </a:r>
            <a:endParaRPr/>
          </a:p>
        </p:txBody>
      </p:sp>
      <p:sp>
        <p:nvSpPr>
          <p:cNvPr id="169" name="Google Shape;169;p19"/>
          <p:cNvSpPr txBox="1"/>
          <p:nvPr/>
        </p:nvSpPr>
        <p:spPr>
          <a:xfrm>
            <a:off x="571500" y="3646140"/>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Không phải cực trị nào cũng tốt. SIFT loại bỏ các điểm có độ tương phản thấp hoặc nằm trên cạnh để tăng độ chính xác khi ghép ảnh.</a:t>
            </a:r>
            <a:endParaRPr/>
          </a:p>
        </p:txBody>
      </p:sp>
      <p:sp>
        <p:nvSpPr>
          <p:cNvPr id="170" name="Google Shape;170;p19"/>
          <p:cNvSpPr txBox="1"/>
          <p:nvPr/>
        </p:nvSpPr>
        <p:spPr>
          <a:xfrm>
            <a:off x="6715125" y="2669827"/>
            <a:ext cx="4905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Loại bỏ điểm tương phản thấp:</a:t>
            </a:r>
            <a:r>
              <a:rPr b="0" i="0" lang="en-US" sz="1500" u="none" cap="none" strike="noStrike">
                <a:solidFill>
                  <a:srgbClr val="E0E0E0"/>
                </a:solidFill>
                <a:latin typeface="Urbanist"/>
                <a:ea typeface="Urbanist"/>
                <a:cs typeface="Urbanist"/>
                <a:sym typeface="Urbanist"/>
              </a:rPr>
              <a:t> Các điểm mờ nhạt thường là nhiễu, thuật toán đặt ngưỡng để lọc bỏ chúng.</a:t>
            </a:r>
            <a:endParaRPr/>
          </a:p>
        </p:txBody>
      </p:sp>
      <p:sp>
        <p:nvSpPr>
          <p:cNvPr id="171" name="Google Shape;171;p19"/>
          <p:cNvSpPr txBox="1"/>
          <p:nvPr/>
        </p:nvSpPr>
        <p:spPr>
          <a:xfrm>
            <a:off x="6715125" y="3517552"/>
            <a:ext cx="4905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Loại bỏ phản hồi cạnh:</a:t>
            </a:r>
            <a:r>
              <a:rPr b="0" i="0" lang="en-US" sz="1500" u="none" cap="none" strike="noStrike">
                <a:solidFill>
                  <a:srgbClr val="E0E0E0"/>
                </a:solidFill>
                <a:latin typeface="Urbanist"/>
                <a:ea typeface="Urbanist"/>
                <a:cs typeface="Urbanist"/>
                <a:sym typeface="Urbanist"/>
              </a:rPr>
              <a:t> Điểm trên cạnh gây bối rối khi ghép (giống nhau dọc theo cạnh).</a:t>
            </a:r>
            <a:endParaRPr/>
          </a:p>
        </p:txBody>
      </p:sp>
      <p:sp>
        <p:nvSpPr>
          <p:cNvPr id="172" name="Google Shape;172;p19"/>
          <p:cNvSpPr txBox="1"/>
          <p:nvPr/>
        </p:nvSpPr>
        <p:spPr>
          <a:xfrm>
            <a:off x="6715125" y="4365277"/>
            <a:ext cx="4905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Giữ lại điểm GÓC:</a:t>
            </a:r>
            <a:r>
              <a:rPr b="0" i="0" lang="en-US" sz="1500" u="none" cap="none" strike="noStrike">
                <a:solidFill>
                  <a:srgbClr val="E0E0E0"/>
                </a:solidFill>
                <a:latin typeface="Urbanist"/>
                <a:ea typeface="Urbanist"/>
                <a:cs typeface="Urbanist"/>
                <a:sym typeface="Urbanist"/>
              </a:rPr>
              <a:t> Điểm góc có độ cong lớn theo cả 2 hướng (ngang và dọc), giúp việc nhận diện là duy nhất.</a:t>
            </a:r>
            <a:endParaRPr/>
          </a:p>
        </p:txBody>
      </p:sp>
      <p:sp>
        <p:nvSpPr>
          <p:cNvPr id="173" name="Google Shape;173;p19"/>
          <p:cNvSpPr txBox="1"/>
          <p:nvPr/>
        </p:nvSpPr>
        <p:spPr>
          <a:xfrm>
            <a:off x="571500" y="3810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Bước 4: Lọc &amp; Tinh chỉnh Điểm khóa</a:t>
            </a:r>
            <a:endParaRPr/>
          </a:p>
        </p:txBody>
      </p:sp>
      <p:pic>
        <p:nvPicPr>
          <p:cNvPr descr="image.png" id="174" name="Google Shape;174;p19"/>
          <p:cNvPicPr preferRelativeResize="0"/>
          <p:nvPr/>
        </p:nvPicPr>
        <p:blipFill rotWithShape="1">
          <a:blip r:embed="rId4">
            <a:alphaModFix/>
          </a:blip>
          <a:srcRect b="0" l="0" r="0" t="0"/>
          <a:stretch/>
        </p:blipFill>
        <p:spPr>
          <a:xfrm>
            <a:off x="6381750" y="2707927"/>
            <a:ext cx="190500" cy="200025"/>
          </a:xfrm>
          <a:prstGeom prst="rect">
            <a:avLst/>
          </a:prstGeom>
          <a:noFill/>
          <a:ln>
            <a:noFill/>
          </a:ln>
        </p:spPr>
      </p:pic>
      <p:pic>
        <p:nvPicPr>
          <p:cNvPr descr="image.png" id="175" name="Google Shape;175;p19"/>
          <p:cNvPicPr preferRelativeResize="0"/>
          <p:nvPr/>
        </p:nvPicPr>
        <p:blipFill rotWithShape="1">
          <a:blip r:embed="rId4">
            <a:alphaModFix/>
          </a:blip>
          <a:srcRect b="0" l="0" r="0" t="0"/>
          <a:stretch/>
        </p:blipFill>
        <p:spPr>
          <a:xfrm>
            <a:off x="6381750" y="3555652"/>
            <a:ext cx="190500" cy="200025"/>
          </a:xfrm>
          <a:prstGeom prst="rect">
            <a:avLst/>
          </a:prstGeom>
          <a:noFill/>
          <a:ln>
            <a:noFill/>
          </a:ln>
        </p:spPr>
      </p:pic>
      <p:pic>
        <p:nvPicPr>
          <p:cNvPr descr="image.png" id="176" name="Google Shape;176;p19"/>
          <p:cNvPicPr preferRelativeResize="0"/>
          <p:nvPr/>
        </p:nvPicPr>
        <p:blipFill rotWithShape="1">
          <a:blip r:embed="rId4">
            <a:alphaModFix/>
          </a:blip>
          <a:srcRect b="0" l="0" r="0" t="0"/>
          <a:stretch/>
        </p:blipFill>
        <p:spPr>
          <a:xfrm>
            <a:off x="6381750" y="4403377"/>
            <a:ext cx="190500" cy="200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image.png" id="181" name="Google Shape;181;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2" name="Google Shape;182;p20"/>
          <p:cNvPicPr preferRelativeResize="0"/>
          <p:nvPr/>
        </p:nvPicPr>
        <p:blipFill rotWithShape="1">
          <a:blip r:embed="rId4">
            <a:alphaModFix/>
          </a:blip>
          <a:srcRect b="0" l="0" r="0" t="0"/>
          <a:stretch/>
        </p:blipFill>
        <p:spPr>
          <a:xfrm>
            <a:off x="6334125" y="1798290"/>
            <a:ext cx="5286375" cy="4286250"/>
          </a:xfrm>
          <a:prstGeom prst="rect">
            <a:avLst/>
          </a:prstGeom>
          <a:noFill/>
          <a:ln>
            <a:noFill/>
          </a:ln>
        </p:spPr>
      </p:pic>
      <p:sp>
        <p:nvSpPr>
          <p:cNvPr id="183" name="Google Shape;183;p20"/>
          <p:cNvSpPr txBox="1"/>
          <p:nvPr/>
        </p:nvSpPr>
        <p:spPr>
          <a:xfrm>
            <a:off x="571500" y="2165002"/>
            <a:ext cx="5550693"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Vector đặc trưng 128 chiều</a:t>
            </a:r>
            <a:endParaRPr/>
          </a:p>
        </p:txBody>
      </p:sp>
      <p:sp>
        <p:nvSpPr>
          <p:cNvPr id="184" name="Google Shape;184;p20"/>
          <p:cNvSpPr txBox="1"/>
          <p:nvPr/>
        </p:nvSpPr>
        <p:spPr>
          <a:xfrm>
            <a:off x="571500" y="2679352"/>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Sau khi có keypoint, ta cần mô tả nó để máy tính hiểu. SIFT tạo ra một "dấu vân tay" số học:</a:t>
            </a:r>
            <a:endParaRPr/>
          </a:p>
        </p:txBody>
      </p:sp>
      <p:sp>
        <p:nvSpPr>
          <p:cNvPr id="185" name="Google Shape;185;p20"/>
          <p:cNvSpPr txBox="1"/>
          <p:nvPr/>
        </p:nvSpPr>
        <p:spPr>
          <a:xfrm>
            <a:off x="571500" y="5624977"/>
            <a:ext cx="5286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Kết quả:</a:t>
            </a:r>
            <a:r>
              <a:rPr b="0" i="0" lang="en-US" sz="1500" u="none" cap="none" strike="noStrike">
                <a:solidFill>
                  <a:srgbClr val="E0E0E0"/>
                </a:solidFill>
                <a:latin typeface="Urbanist"/>
                <a:ea typeface="Urbanist"/>
                <a:cs typeface="Urbanist"/>
                <a:sym typeface="Urbanist"/>
              </a:rPr>
              <a:t> 16 vùng x 8 hướng = </a:t>
            </a:r>
            <a:r>
              <a:rPr b="1" i="0" lang="en-US" sz="1500" u="none" cap="none" strike="noStrike">
                <a:solidFill>
                  <a:srgbClr val="DEFF9A"/>
                </a:solidFill>
                <a:latin typeface="Urbanist"/>
                <a:ea typeface="Urbanist"/>
                <a:cs typeface="Urbanist"/>
                <a:sym typeface="Urbanist"/>
              </a:rPr>
              <a:t>128 chiều</a:t>
            </a:r>
            <a:r>
              <a:rPr b="0" i="0" lang="en-US" sz="1500" u="none" cap="none" strike="noStrike">
                <a:solidFill>
                  <a:srgbClr val="E0E0E0"/>
                </a:solidFill>
                <a:latin typeface="Urbanist"/>
                <a:ea typeface="Urbanist"/>
                <a:cs typeface="Urbanist"/>
                <a:sym typeface="Urbanist"/>
              </a:rPr>
              <a:t>.</a:t>
            </a:r>
            <a:endParaRPr/>
          </a:p>
        </p:txBody>
      </p:sp>
      <p:pic>
        <p:nvPicPr>
          <p:cNvPr descr="image.png" id="186" name="Google Shape;186;p20"/>
          <p:cNvPicPr preferRelativeResize="0"/>
          <p:nvPr/>
        </p:nvPicPr>
        <p:blipFill rotWithShape="1">
          <a:blip r:embed="rId5">
            <a:alphaModFix/>
          </a:blip>
          <a:srcRect b="0" l="0" r="0" t="0"/>
          <a:stretch/>
        </p:blipFill>
        <p:spPr>
          <a:xfrm>
            <a:off x="6343650" y="1807815"/>
            <a:ext cx="5267325" cy="4267200"/>
          </a:xfrm>
          <a:prstGeom prst="rect">
            <a:avLst/>
          </a:prstGeom>
          <a:noFill/>
          <a:ln>
            <a:noFill/>
          </a:ln>
        </p:spPr>
      </p:pic>
      <p:sp>
        <p:nvSpPr>
          <p:cNvPr id="187" name="Google Shape;187;p20"/>
          <p:cNvSpPr txBox="1"/>
          <p:nvPr/>
        </p:nvSpPr>
        <p:spPr>
          <a:xfrm>
            <a:off x="1057275" y="3831877"/>
            <a:ext cx="857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1.</a:t>
            </a:r>
            <a:endParaRPr/>
          </a:p>
        </p:txBody>
      </p:sp>
      <p:sp>
        <p:nvSpPr>
          <p:cNvPr id="188" name="Google Shape;188;p20"/>
          <p:cNvSpPr txBox="1"/>
          <p:nvPr/>
        </p:nvSpPr>
        <p:spPr>
          <a:xfrm>
            <a:off x="1143000" y="3831877"/>
            <a:ext cx="4714875" cy="3048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Lấy vùng 16x16 pixel xung quanh keypoint.</a:t>
            </a:r>
            <a:endParaRPr/>
          </a:p>
        </p:txBody>
      </p:sp>
      <p:sp>
        <p:nvSpPr>
          <p:cNvPr id="189" name="Google Shape;189;p20"/>
          <p:cNvSpPr txBox="1"/>
          <p:nvPr/>
        </p:nvSpPr>
        <p:spPr>
          <a:xfrm>
            <a:off x="1000125" y="4136677"/>
            <a:ext cx="1428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2.</a:t>
            </a:r>
            <a:endParaRPr/>
          </a:p>
        </p:txBody>
      </p:sp>
      <p:sp>
        <p:nvSpPr>
          <p:cNvPr id="190" name="Google Shape;190;p20"/>
          <p:cNvSpPr txBox="1"/>
          <p:nvPr/>
        </p:nvSpPr>
        <p:spPr>
          <a:xfrm>
            <a:off x="1143000" y="4136677"/>
            <a:ext cx="4714875" cy="304800"/>
          </a:xfrm>
          <a:prstGeom prst="rect">
            <a:avLst/>
          </a:prstGeom>
          <a:noFill/>
          <a:ln>
            <a:noFill/>
          </a:ln>
        </p:spPr>
        <p:txBody>
          <a:bodyPr anchorCtr="0" anchor="t" bIns="0" lIns="1428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Chia thành 16 vùng con (4x4).</a:t>
            </a:r>
            <a:endParaRPr/>
          </a:p>
        </p:txBody>
      </p:sp>
      <p:sp>
        <p:nvSpPr>
          <p:cNvPr id="191" name="Google Shape;191;p20"/>
          <p:cNvSpPr txBox="1"/>
          <p:nvPr/>
        </p:nvSpPr>
        <p:spPr>
          <a:xfrm>
            <a:off x="1009650" y="4441477"/>
            <a:ext cx="13335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3.</a:t>
            </a:r>
            <a:endParaRPr/>
          </a:p>
        </p:txBody>
      </p:sp>
      <p:sp>
        <p:nvSpPr>
          <p:cNvPr id="192" name="Google Shape;192;p20"/>
          <p:cNvSpPr txBox="1"/>
          <p:nvPr/>
        </p:nvSpPr>
        <p:spPr>
          <a:xfrm>
            <a:off x="1143000" y="4441477"/>
            <a:ext cx="4714800" cy="600300"/>
          </a:xfrm>
          <a:prstGeom prst="rect">
            <a:avLst/>
          </a:prstGeom>
          <a:noFill/>
          <a:ln>
            <a:noFill/>
          </a:ln>
        </p:spPr>
        <p:txBody>
          <a:bodyPr anchorCtr="0" anchor="t" bIns="0" lIns="13335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Tính toán hướng và độ lớn Gradient tại mỗi </a:t>
            </a:r>
            <a:r>
              <a:rPr lang="en-US" sz="1500">
                <a:solidFill>
                  <a:srgbClr val="E0E0E0"/>
                </a:solidFill>
                <a:latin typeface="Urbanist"/>
                <a:ea typeface="Urbanist"/>
                <a:cs typeface="Urbanist"/>
                <a:sym typeface="Urbanist"/>
              </a:rPr>
              <a:t>vùng con 4x4</a:t>
            </a:r>
            <a:r>
              <a:rPr b="0" i="0" lang="en-US" sz="1500" u="none" cap="none" strike="noStrike">
                <a:solidFill>
                  <a:srgbClr val="E0E0E0"/>
                </a:solidFill>
                <a:latin typeface="Urbanist"/>
                <a:ea typeface="Urbanist"/>
                <a:cs typeface="Urbanist"/>
                <a:sym typeface="Urbanist"/>
              </a:rPr>
              <a:t>.</a:t>
            </a:r>
            <a:endParaRPr/>
          </a:p>
        </p:txBody>
      </p:sp>
      <p:sp>
        <p:nvSpPr>
          <p:cNvPr id="193" name="Google Shape;193;p20"/>
          <p:cNvSpPr txBox="1"/>
          <p:nvPr/>
        </p:nvSpPr>
        <p:spPr>
          <a:xfrm>
            <a:off x="1004888" y="5180977"/>
            <a:ext cx="1428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4.</a:t>
            </a:r>
            <a:endParaRPr/>
          </a:p>
        </p:txBody>
      </p:sp>
      <p:sp>
        <p:nvSpPr>
          <p:cNvPr id="194" name="Google Shape;194;p20"/>
          <p:cNvSpPr txBox="1"/>
          <p:nvPr/>
        </p:nvSpPr>
        <p:spPr>
          <a:xfrm>
            <a:off x="1143000" y="5222527"/>
            <a:ext cx="4714800" cy="231000"/>
          </a:xfrm>
          <a:prstGeom prst="rect">
            <a:avLst/>
          </a:prstGeom>
          <a:noFill/>
          <a:ln>
            <a:noFill/>
          </a:ln>
        </p:spPr>
        <p:txBody>
          <a:bodyPr anchorCtr="0" anchor="t" bIns="0" lIns="1428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Tạo biểu đồ hướng (8 hướng) cho mỗi vùng con.</a:t>
            </a:r>
            <a:endParaRPr/>
          </a:p>
        </p:txBody>
      </p:sp>
      <p:sp>
        <p:nvSpPr>
          <p:cNvPr id="195" name="Google Shape;195;p20"/>
          <p:cNvSpPr txBox="1"/>
          <p:nvPr/>
        </p:nvSpPr>
        <p:spPr>
          <a:xfrm>
            <a:off x="571500" y="3810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Tạo Bộ mô tả (Descriptor)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image.png" id="200" name="Google Shape;200;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1" name="Google Shape;201;p21"/>
          <p:cNvPicPr preferRelativeResize="0"/>
          <p:nvPr/>
        </p:nvPicPr>
        <p:blipFill rotWithShape="1">
          <a:blip r:embed="rId4">
            <a:alphaModFix/>
          </a:blip>
          <a:srcRect b="0" l="0" r="0" t="0"/>
          <a:stretch/>
        </p:blipFill>
        <p:spPr>
          <a:xfrm>
            <a:off x="571500" y="1405830"/>
            <a:ext cx="5238750" cy="5071169"/>
          </a:xfrm>
          <a:prstGeom prst="rect">
            <a:avLst/>
          </a:prstGeom>
          <a:noFill/>
          <a:ln>
            <a:noFill/>
          </a:ln>
        </p:spPr>
      </p:pic>
      <p:pic>
        <p:nvPicPr>
          <p:cNvPr descr="image.png" id="202" name="Google Shape;202;p21"/>
          <p:cNvPicPr preferRelativeResize="0"/>
          <p:nvPr/>
        </p:nvPicPr>
        <p:blipFill rotWithShape="1">
          <a:blip r:embed="rId5">
            <a:alphaModFix/>
          </a:blip>
          <a:srcRect b="0" l="0" r="0" t="0"/>
          <a:stretch/>
        </p:blipFill>
        <p:spPr>
          <a:xfrm>
            <a:off x="6381750" y="1405830"/>
            <a:ext cx="5238750" cy="5071169"/>
          </a:xfrm>
          <a:prstGeom prst="rect">
            <a:avLst/>
          </a:prstGeom>
          <a:noFill/>
          <a:ln>
            <a:noFill/>
          </a:ln>
        </p:spPr>
      </p:pic>
      <p:sp>
        <p:nvSpPr>
          <p:cNvPr id="203" name="Google Shape;203;p21"/>
          <p:cNvSpPr txBox="1"/>
          <p:nvPr/>
        </p:nvSpPr>
        <p:spPr>
          <a:xfrm>
            <a:off x="962025" y="2907952"/>
            <a:ext cx="468058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Bất biến với Xoay (Rotation)</a:t>
            </a:r>
            <a:endParaRPr/>
          </a:p>
        </p:txBody>
      </p:sp>
      <p:sp>
        <p:nvSpPr>
          <p:cNvPr id="204" name="Google Shape;204;p21"/>
          <p:cNvSpPr txBox="1"/>
          <p:nvPr/>
        </p:nvSpPr>
        <p:spPr>
          <a:xfrm>
            <a:off x="962025" y="3565177"/>
            <a:ext cx="445770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Trước khi tính toán, toàn bộ vùng lân cận được xoay theo "hướng chính" của keypoint. Dù camera xoay thế nào, dữ liệu đầu vào cho descriptor vẫn tương đồng.</a:t>
            </a:r>
            <a:endParaRPr/>
          </a:p>
        </p:txBody>
      </p:sp>
      <p:sp>
        <p:nvSpPr>
          <p:cNvPr id="205" name="Google Shape;205;p21"/>
          <p:cNvSpPr txBox="1"/>
          <p:nvPr/>
        </p:nvSpPr>
        <p:spPr>
          <a:xfrm>
            <a:off x="6772275" y="3060352"/>
            <a:ext cx="468058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Bất biến với Ánh sáng (Illumination)</a:t>
            </a:r>
            <a:endParaRPr/>
          </a:p>
        </p:txBody>
      </p:sp>
      <p:sp>
        <p:nvSpPr>
          <p:cNvPr id="206" name="Google Shape;206;p21"/>
          <p:cNvSpPr txBox="1"/>
          <p:nvPr/>
        </p:nvSpPr>
        <p:spPr>
          <a:xfrm>
            <a:off x="6772275" y="3717577"/>
            <a:ext cx="44577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Vector 128 chiều được chuẩn hóa (đưa độ dài về 1). Điều này giúp triệt tiêu sự thay đổi đồng đều của độ sáng (sáng hơn hoặc tối đi toàn bộ).</a:t>
            </a:r>
            <a:endParaRPr/>
          </a:p>
        </p:txBody>
      </p:sp>
      <p:sp>
        <p:nvSpPr>
          <p:cNvPr id="207" name="Google Shape;207;p21"/>
          <p:cNvSpPr txBox="1"/>
          <p:nvPr/>
        </p:nvSpPr>
        <p:spPr>
          <a:xfrm>
            <a:off x="571500" y="3810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Tại sao Descriptor mạnh mẽ?</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descr="image.png" id="212" name="Google Shape;212;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3" name="Google Shape;213;p22"/>
          <p:cNvPicPr preferRelativeResize="0"/>
          <p:nvPr/>
        </p:nvPicPr>
        <p:blipFill rotWithShape="1">
          <a:blip r:embed="rId4">
            <a:alphaModFix/>
          </a:blip>
          <a:srcRect b="0" l="0" r="0" t="0"/>
          <a:stretch/>
        </p:blipFill>
        <p:spPr>
          <a:xfrm>
            <a:off x="6096000" y="0"/>
            <a:ext cx="6096000" cy="6858000"/>
          </a:xfrm>
          <a:prstGeom prst="rect">
            <a:avLst/>
          </a:prstGeom>
          <a:noFill/>
          <a:ln>
            <a:noFill/>
          </a:ln>
        </p:spPr>
      </p:pic>
      <p:sp>
        <p:nvSpPr>
          <p:cNvPr id="214" name="Google Shape;214;p22"/>
          <p:cNvSpPr txBox="1"/>
          <p:nvPr/>
        </p:nvSpPr>
        <p:spPr>
          <a:xfrm>
            <a:off x="571500" y="2082105"/>
            <a:ext cx="49530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Để ghép nhiều ảnh thành một ảnh toàn cảnh liền mạch, chúng ta thực hiện theo quy trình 4 bước:</a:t>
            </a:r>
            <a:endParaRPr/>
          </a:p>
        </p:txBody>
      </p:sp>
      <p:sp>
        <p:nvSpPr>
          <p:cNvPr id="215" name="Google Shape;215;p22"/>
          <p:cNvSpPr txBox="1"/>
          <p:nvPr/>
        </p:nvSpPr>
        <p:spPr>
          <a:xfrm>
            <a:off x="857250" y="3053655"/>
            <a:ext cx="4667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1. Feature Matching:</a:t>
            </a:r>
            <a:r>
              <a:rPr b="0" i="0" lang="en-US" sz="1500" u="none" cap="none" strike="noStrike">
                <a:solidFill>
                  <a:srgbClr val="E0E0E0"/>
                </a:solidFill>
                <a:latin typeface="Urbanist"/>
                <a:ea typeface="Urbanist"/>
                <a:cs typeface="Urbanist"/>
                <a:sym typeface="Urbanist"/>
              </a:rPr>
              <a:t> Tìm các cặp điểm đặc trưng trùng khớp giữa 2 ảnh (sử dụng SIFT).</a:t>
            </a:r>
            <a:endParaRPr/>
          </a:p>
        </p:txBody>
      </p:sp>
      <p:sp>
        <p:nvSpPr>
          <p:cNvPr id="216" name="Google Shape;216;p22"/>
          <p:cNvSpPr txBox="1"/>
          <p:nvPr/>
        </p:nvSpPr>
        <p:spPr>
          <a:xfrm>
            <a:off x="857250" y="3853755"/>
            <a:ext cx="4667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2. Homography Estimation:</a:t>
            </a:r>
            <a:r>
              <a:rPr b="0" i="0" lang="en-US" sz="1500" u="none" cap="none" strike="noStrike">
                <a:solidFill>
                  <a:srgbClr val="E0E0E0"/>
                </a:solidFill>
                <a:latin typeface="Urbanist"/>
                <a:ea typeface="Urbanist"/>
                <a:cs typeface="Urbanist"/>
                <a:sym typeface="Urbanist"/>
              </a:rPr>
              <a:t> Tính toán ma trận biến đổi phối cảnh dựa trên các cặp điểm đã tìm.</a:t>
            </a:r>
            <a:endParaRPr/>
          </a:p>
        </p:txBody>
      </p:sp>
      <p:sp>
        <p:nvSpPr>
          <p:cNvPr id="217" name="Google Shape;217;p22"/>
          <p:cNvSpPr txBox="1"/>
          <p:nvPr/>
        </p:nvSpPr>
        <p:spPr>
          <a:xfrm>
            <a:off x="857250" y="4653855"/>
            <a:ext cx="4667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3. Warping (Biến đổi):</a:t>
            </a:r>
            <a:r>
              <a:rPr b="0" i="0" lang="en-US" sz="1500" u="none" cap="none" strike="noStrike">
                <a:solidFill>
                  <a:srgbClr val="E0E0E0"/>
                </a:solidFill>
                <a:latin typeface="Urbanist"/>
                <a:ea typeface="Urbanist"/>
                <a:cs typeface="Urbanist"/>
                <a:sym typeface="Urbanist"/>
              </a:rPr>
              <a:t> Sử dụng ma trận Homography để "bẻ cong" ảnh thứ 2 sao cho khớp góc nhìn với ảnh 1.</a:t>
            </a:r>
            <a:endParaRPr/>
          </a:p>
        </p:txBody>
      </p:sp>
      <p:sp>
        <p:nvSpPr>
          <p:cNvPr id="218" name="Google Shape;218;p22"/>
          <p:cNvSpPr txBox="1"/>
          <p:nvPr/>
        </p:nvSpPr>
        <p:spPr>
          <a:xfrm>
            <a:off x="857250" y="5453955"/>
            <a:ext cx="4667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DEFF9A"/>
                </a:solidFill>
                <a:latin typeface="Urbanist"/>
                <a:ea typeface="Urbanist"/>
                <a:cs typeface="Urbanist"/>
                <a:sym typeface="Urbanist"/>
              </a:rPr>
              <a:t>4. Blending (Pha trộn):</a:t>
            </a:r>
            <a:r>
              <a:rPr b="0" i="0" lang="en-US" sz="1500" u="none" cap="none" strike="noStrike">
                <a:solidFill>
                  <a:srgbClr val="E0E0E0"/>
                </a:solidFill>
                <a:latin typeface="Urbanist"/>
                <a:ea typeface="Urbanist"/>
                <a:cs typeface="Urbanist"/>
                <a:sym typeface="Urbanist"/>
              </a:rPr>
              <a:t> Xử lý vùng chồng lấn để loại bỏ đường biên và sự chênh lệch ánh sáng.</a:t>
            </a:r>
            <a:endParaRPr/>
          </a:p>
        </p:txBody>
      </p:sp>
      <p:sp>
        <p:nvSpPr>
          <p:cNvPr id="219" name="Google Shape;219;p22"/>
          <p:cNvSpPr txBox="1"/>
          <p:nvPr/>
        </p:nvSpPr>
        <p:spPr>
          <a:xfrm>
            <a:off x="571500" y="603944"/>
            <a:ext cx="5200800" cy="1219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Quy trình Ghép ảnh Panorama</a:t>
            </a:r>
            <a:endParaRPr/>
          </a:p>
        </p:txBody>
      </p:sp>
      <p:pic>
        <p:nvPicPr>
          <p:cNvPr descr="image.png" id="220" name="Google Shape;220;p22"/>
          <p:cNvPicPr preferRelativeResize="0"/>
          <p:nvPr/>
        </p:nvPicPr>
        <p:blipFill rotWithShape="1">
          <a:blip r:embed="rId5">
            <a:alphaModFix/>
          </a:blip>
          <a:srcRect b="0" l="0" r="0" t="0"/>
          <a:stretch/>
        </p:blipFill>
        <p:spPr>
          <a:xfrm>
            <a:off x="571500" y="3091755"/>
            <a:ext cx="190500" cy="200025"/>
          </a:xfrm>
          <a:prstGeom prst="rect">
            <a:avLst/>
          </a:prstGeom>
          <a:noFill/>
          <a:ln>
            <a:noFill/>
          </a:ln>
        </p:spPr>
      </p:pic>
      <p:pic>
        <p:nvPicPr>
          <p:cNvPr descr="image.png" id="221" name="Google Shape;221;p22"/>
          <p:cNvPicPr preferRelativeResize="0"/>
          <p:nvPr/>
        </p:nvPicPr>
        <p:blipFill rotWithShape="1">
          <a:blip r:embed="rId5">
            <a:alphaModFix/>
          </a:blip>
          <a:srcRect b="0" l="0" r="0" t="0"/>
          <a:stretch/>
        </p:blipFill>
        <p:spPr>
          <a:xfrm>
            <a:off x="571500" y="3891855"/>
            <a:ext cx="190500" cy="200025"/>
          </a:xfrm>
          <a:prstGeom prst="rect">
            <a:avLst/>
          </a:prstGeom>
          <a:noFill/>
          <a:ln>
            <a:noFill/>
          </a:ln>
        </p:spPr>
      </p:pic>
      <p:pic>
        <p:nvPicPr>
          <p:cNvPr descr="image.png" id="222" name="Google Shape;222;p22"/>
          <p:cNvPicPr preferRelativeResize="0"/>
          <p:nvPr/>
        </p:nvPicPr>
        <p:blipFill rotWithShape="1">
          <a:blip r:embed="rId5">
            <a:alphaModFix/>
          </a:blip>
          <a:srcRect b="0" l="0" r="0" t="0"/>
          <a:stretch/>
        </p:blipFill>
        <p:spPr>
          <a:xfrm>
            <a:off x="571500" y="4691955"/>
            <a:ext cx="190500" cy="200025"/>
          </a:xfrm>
          <a:prstGeom prst="rect">
            <a:avLst/>
          </a:prstGeom>
          <a:noFill/>
          <a:ln>
            <a:noFill/>
          </a:ln>
        </p:spPr>
      </p:pic>
      <p:pic>
        <p:nvPicPr>
          <p:cNvPr descr="image.png" id="223" name="Google Shape;223;p22"/>
          <p:cNvPicPr preferRelativeResize="0"/>
          <p:nvPr/>
        </p:nvPicPr>
        <p:blipFill rotWithShape="1">
          <a:blip r:embed="rId5">
            <a:alphaModFix/>
          </a:blip>
          <a:srcRect b="0" l="0" r="0" t="0"/>
          <a:stretch/>
        </p:blipFill>
        <p:spPr>
          <a:xfrm>
            <a:off x="571500" y="5492055"/>
            <a:ext cx="190500" cy="200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image.png" id="228" name="Google Shape;228;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9" name="Google Shape;229;p23"/>
          <p:cNvPicPr preferRelativeResize="0"/>
          <p:nvPr/>
        </p:nvPicPr>
        <p:blipFill rotWithShape="1">
          <a:blip r:embed="rId4">
            <a:alphaModFix/>
          </a:blip>
          <a:srcRect b="0" l="0" r="0" t="0"/>
          <a:stretch/>
        </p:blipFill>
        <p:spPr>
          <a:xfrm>
            <a:off x="6334125" y="1798290"/>
            <a:ext cx="5286375" cy="4286250"/>
          </a:xfrm>
          <a:prstGeom prst="rect">
            <a:avLst/>
          </a:prstGeom>
          <a:noFill/>
          <a:ln>
            <a:noFill/>
          </a:ln>
        </p:spPr>
      </p:pic>
      <p:sp>
        <p:nvSpPr>
          <p:cNvPr id="230" name="Google Shape;230;p23"/>
          <p:cNvSpPr txBox="1"/>
          <p:nvPr/>
        </p:nvSpPr>
        <p:spPr>
          <a:xfrm>
            <a:off x="571500" y="1850677"/>
            <a:ext cx="5550693"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Homography là gì?</a:t>
            </a:r>
            <a:endParaRPr/>
          </a:p>
        </p:txBody>
      </p:sp>
      <p:sp>
        <p:nvSpPr>
          <p:cNvPr id="231" name="Google Shape;231;p23"/>
          <p:cNvSpPr txBox="1"/>
          <p:nvPr/>
        </p:nvSpPr>
        <p:spPr>
          <a:xfrm>
            <a:off x="571500" y="2365027"/>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Là ma trận 3x3 mô tả phép biến đổi phối cảnh, cho phép "bẻ cong" ảnh này đè khít lên ảnh kia.</a:t>
            </a:r>
            <a:endParaRPr/>
          </a:p>
        </p:txBody>
      </p:sp>
      <p:sp>
        <p:nvSpPr>
          <p:cNvPr id="232" name="Google Shape;232;p23"/>
          <p:cNvSpPr txBox="1"/>
          <p:nvPr/>
        </p:nvSpPr>
        <p:spPr>
          <a:xfrm>
            <a:off x="571500" y="3346102"/>
            <a:ext cx="5550693"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Thuật toán RANSAC</a:t>
            </a:r>
            <a:endParaRPr/>
          </a:p>
        </p:txBody>
      </p:sp>
      <p:sp>
        <p:nvSpPr>
          <p:cNvPr id="233" name="Google Shape;233;p23"/>
          <p:cNvSpPr txBox="1"/>
          <p:nvPr/>
        </p:nvSpPr>
        <p:spPr>
          <a:xfrm>
            <a:off x="571500" y="3860452"/>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Dữ liệu ghép cặp thường có nhiễu (sai sót). RANSAC giúp tìm ra ma trận H tốt nhất bằng cách:</a:t>
            </a:r>
            <a:endParaRPr/>
          </a:p>
        </p:txBody>
      </p:sp>
      <p:pic>
        <p:nvPicPr>
          <p:cNvPr descr="image.png" id="234" name="Google Shape;234;p23"/>
          <p:cNvPicPr preferRelativeResize="0"/>
          <p:nvPr/>
        </p:nvPicPr>
        <p:blipFill rotWithShape="1">
          <a:blip r:embed="rId5">
            <a:alphaModFix/>
          </a:blip>
          <a:srcRect b="0" l="0" r="0" t="0"/>
          <a:stretch/>
        </p:blipFill>
        <p:spPr>
          <a:xfrm>
            <a:off x="6343650" y="1807815"/>
            <a:ext cx="5267325" cy="4267200"/>
          </a:xfrm>
          <a:prstGeom prst="rect">
            <a:avLst/>
          </a:prstGeom>
          <a:noFill/>
          <a:ln>
            <a:noFill/>
          </a:ln>
        </p:spPr>
      </p:pic>
      <p:sp>
        <p:nvSpPr>
          <p:cNvPr id="235" name="Google Shape;235;p23"/>
          <p:cNvSpPr txBox="1"/>
          <p:nvPr/>
        </p:nvSpPr>
        <p:spPr>
          <a:xfrm>
            <a:off x="914400" y="4660552"/>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a:t>
            </a:r>
            <a:endParaRPr/>
          </a:p>
        </p:txBody>
      </p:sp>
      <p:sp>
        <p:nvSpPr>
          <p:cNvPr id="236" name="Google Shape;236;p23"/>
          <p:cNvSpPr txBox="1"/>
          <p:nvPr/>
        </p:nvSpPr>
        <p:spPr>
          <a:xfrm>
            <a:off x="952500" y="4660552"/>
            <a:ext cx="490537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Chọn ngẫu nhiên 4 cặp điểm.</a:t>
            </a:r>
            <a:endParaRPr/>
          </a:p>
        </p:txBody>
      </p:sp>
      <p:sp>
        <p:nvSpPr>
          <p:cNvPr id="237" name="Google Shape;237;p23"/>
          <p:cNvSpPr txBox="1"/>
          <p:nvPr/>
        </p:nvSpPr>
        <p:spPr>
          <a:xfrm>
            <a:off x="914400" y="4965352"/>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a:t>
            </a:r>
            <a:endParaRPr/>
          </a:p>
        </p:txBody>
      </p:sp>
      <p:sp>
        <p:nvSpPr>
          <p:cNvPr id="238" name="Google Shape;238;p23"/>
          <p:cNvSpPr txBox="1"/>
          <p:nvPr/>
        </p:nvSpPr>
        <p:spPr>
          <a:xfrm>
            <a:off x="952500" y="4965352"/>
            <a:ext cx="490537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Tính H thử nghiệm.</a:t>
            </a:r>
            <a:endParaRPr/>
          </a:p>
        </p:txBody>
      </p:sp>
      <p:sp>
        <p:nvSpPr>
          <p:cNvPr id="239" name="Google Shape;239;p23"/>
          <p:cNvSpPr txBox="1"/>
          <p:nvPr/>
        </p:nvSpPr>
        <p:spPr>
          <a:xfrm>
            <a:off x="914400" y="5270152"/>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a:t>
            </a:r>
            <a:endParaRPr/>
          </a:p>
        </p:txBody>
      </p:sp>
      <p:sp>
        <p:nvSpPr>
          <p:cNvPr id="240" name="Google Shape;240;p23"/>
          <p:cNvSpPr txBox="1"/>
          <p:nvPr/>
        </p:nvSpPr>
        <p:spPr>
          <a:xfrm>
            <a:off x="952500" y="5270152"/>
            <a:ext cx="490537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Đếm số điểm "đồng ý" (inliers) với H này.</a:t>
            </a:r>
            <a:endParaRPr/>
          </a:p>
        </p:txBody>
      </p:sp>
      <p:sp>
        <p:nvSpPr>
          <p:cNvPr id="241" name="Google Shape;241;p23"/>
          <p:cNvSpPr txBox="1"/>
          <p:nvPr/>
        </p:nvSpPr>
        <p:spPr>
          <a:xfrm>
            <a:off x="914400" y="5574952"/>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E0E0E0"/>
                </a:solidFill>
                <a:latin typeface="Urbanist"/>
                <a:ea typeface="Urbanist"/>
                <a:cs typeface="Urbanist"/>
                <a:sym typeface="Urbanist"/>
              </a:rPr>
              <a:t>•</a:t>
            </a:r>
            <a:endParaRPr/>
          </a:p>
        </p:txBody>
      </p:sp>
      <p:sp>
        <p:nvSpPr>
          <p:cNvPr id="242" name="Google Shape;242;p23"/>
          <p:cNvSpPr txBox="1"/>
          <p:nvPr/>
        </p:nvSpPr>
        <p:spPr>
          <a:xfrm>
            <a:off x="952500" y="5574952"/>
            <a:ext cx="490537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Lặp lại và chọn H có nhiều inliers nhất.</a:t>
            </a:r>
            <a:endParaRPr/>
          </a:p>
        </p:txBody>
      </p:sp>
      <p:sp>
        <p:nvSpPr>
          <p:cNvPr id="243" name="Google Shape;243;p23"/>
          <p:cNvSpPr txBox="1"/>
          <p:nvPr/>
        </p:nvSpPr>
        <p:spPr>
          <a:xfrm>
            <a:off x="571500" y="3810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Tìm Ma trận Homography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descr="image.png" id="248" name="Google Shape;248;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9" name="Google Shape;249;p24"/>
          <p:cNvPicPr preferRelativeResize="0"/>
          <p:nvPr/>
        </p:nvPicPr>
        <p:blipFill rotWithShape="1">
          <a:blip r:embed="rId4">
            <a:alphaModFix/>
          </a:blip>
          <a:srcRect b="0" l="0" r="0" t="0"/>
          <a:stretch/>
        </p:blipFill>
        <p:spPr>
          <a:xfrm>
            <a:off x="6096000" y="0"/>
            <a:ext cx="6096000" cy="6858000"/>
          </a:xfrm>
          <a:prstGeom prst="rect">
            <a:avLst/>
          </a:prstGeom>
          <a:noFill/>
          <a:ln>
            <a:noFill/>
          </a:ln>
        </p:spPr>
      </p:pic>
      <p:sp>
        <p:nvSpPr>
          <p:cNvPr id="250" name="Google Shape;250;p24"/>
          <p:cNvSpPr txBox="1"/>
          <p:nvPr/>
        </p:nvSpPr>
        <p:spPr>
          <a:xfrm>
            <a:off x="571500" y="1980158"/>
            <a:ext cx="520065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Biến đổi (Warping)</a:t>
            </a:r>
            <a:endParaRPr/>
          </a:p>
        </p:txBody>
      </p:sp>
      <p:sp>
        <p:nvSpPr>
          <p:cNvPr id="251" name="Google Shape;251;p24"/>
          <p:cNvSpPr txBox="1"/>
          <p:nvPr/>
        </p:nvSpPr>
        <p:spPr>
          <a:xfrm>
            <a:off x="571500" y="2637383"/>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Sử dụng ma trận H để biến đổi toàn bộ pixel của Ảnh 2 sang hệ tọa độ của Ảnh 1.</a:t>
            </a:r>
            <a:endParaRPr/>
          </a:p>
        </p:txBody>
      </p:sp>
      <p:sp>
        <p:nvSpPr>
          <p:cNvPr id="252" name="Google Shape;252;p24"/>
          <p:cNvSpPr txBox="1"/>
          <p:nvPr/>
        </p:nvSpPr>
        <p:spPr>
          <a:xfrm>
            <a:off x="571500" y="3618458"/>
            <a:ext cx="520065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Pha trộn (Blending)</a:t>
            </a:r>
            <a:endParaRPr/>
          </a:p>
        </p:txBody>
      </p:sp>
      <p:sp>
        <p:nvSpPr>
          <p:cNvPr id="253" name="Google Shape;253;p24"/>
          <p:cNvSpPr txBox="1"/>
          <p:nvPr/>
        </p:nvSpPr>
        <p:spPr>
          <a:xfrm>
            <a:off x="571500" y="4275683"/>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Tại vùng chồng lấn, nếu chỉ dán đè sẽ lộ đường cắt. Kỹ thuật </a:t>
            </a:r>
            <a:r>
              <a:rPr b="1" i="0" lang="en-US" sz="1500" u="none" cap="none" strike="noStrike">
                <a:solidFill>
                  <a:srgbClr val="DEFF9A"/>
                </a:solidFill>
                <a:latin typeface="Urbanist"/>
                <a:ea typeface="Urbanist"/>
                <a:cs typeface="Urbanist"/>
                <a:sym typeface="Urbanist"/>
              </a:rPr>
              <a:t>Alpha Blending</a:t>
            </a:r>
            <a:r>
              <a:rPr b="0" i="0" lang="en-US" sz="1500" u="none" cap="none" strike="noStrike">
                <a:solidFill>
                  <a:srgbClr val="E0E0E0"/>
                </a:solidFill>
                <a:latin typeface="Urbanist"/>
                <a:ea typeface="Urbanist"/>
                <a:cs typeface="Urbanist"/>
                <a:sym typeface="Urbanist"/>
              </a:rPr>
              <a:t> giúp làm mượt sự chuyển tiếp:</a:t>
            </a:r>
            <a:endParaRPr/>
          </a:p>
        </p:txBody>
      </p:sp>
      <p:sp>
        <p:nvSpPr>
          <p:cNvPr id="254" name="Google Shape;254;p24"/>
          <p:cNvSpPr txBox="1"/>
          <p:nvPr/>
        </p:nvSpPr>
        <p:spPr>
          <a:xfrm>
            <a:off x="571500" y="5171033"/>
            <a:ext cx="4953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CCCCC"/>
                </a:solidFill>
                <a:latin typeface="Urbanist"/>
                <a:ea typeface="Urbanist"/>
                <a:cs typeface="Urbanist"/>
                <a:sym typeface="Urbanist"/>
              </a:rPr>
              <a:t>Pixel = (1-α) * Ảnh1 + α * Ảnh2</a:t>
            </a:r>
            <a:endParaRPr/>
          </a:p>
        </p:txBody>
      </p:sp>
      <p:sp>
        <p:nvSpPr>
          <p:cNvPr id="255" name="Google Shape;255;p24"/>
          <p:cNvSpPr txBox="1"/>
          <p:nvPr/>
        </p:nvSpPr>
        <p:spPr>
          <a:xfrm>
            <a:off x="571500" y="571500"/>
            <a:ext cx="52006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Warping &amp; Blending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descr="image.png" id="260" name="Google Shape;260;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1" name="Google Shape;261;p25"/>
          <p:cNvPicPr preferRelativeResize="0"/>
          <p:nvPr/>
        </p:nvPicPr>
        <p:blipFill rotWithShape="1">
          <a:blip r:embed="rId4">
            <a:alphaModFix/>
          </a:blip>
          <a:srcRect b="0" l="0" r="0" t="0"/>
          <a:stretch/>
        </p:blipFill>
        <p:spPr>
          <a:xfrm>
            <a:off x="571500" y="2807940"/>
            <a:ext cx="2619375" cy="2457450"/>
          </a:xfrm>
          <a:prstGeom prst="rect">
            <a:avLst/>
          </a:prstGeom>
          <a:noFill/>
          <a:ln>
            <a:noFill/>
          </a:ln>
        </p:spPr>
      </p:pic>
      <p:pic>
        <p:nvPicPr>
          <p:cNvPr descr="image.png" id="262" name="Google Shape;262;p25"/>
          <p:cNvPicPr preferRelativeResize="0"/>
          <p:nvPr/>
        </p:nvPicPr>
        <p:blipFill rotWithShape="1">
          <a:blip r:embed="rId5">
            <a:alphaModFix/>
          </a:blip>
          <a:srcRect b="0" l="0" r="0" t="0"/>
          <a:stretch/>
        </p:blipFill>
        <p:spPr>
          <a:xfrm>
            <a:off x="3381375" y="2807940"/>
            <a:ext cx="2619375" cy="2457450"/>
          </a:xfrm>
          <a:prstGeom prst="rect">
            <a:avLst/>
          </a:prstGeom>
          <a:noFill/>
          <a:ln>
            <a:noFill/>
          </a:ln>
        </p:spPr>
      </p:pic>
      <p:pic>
        <p:nvPicPr>
          <p:cNvPr descr="image.png" id="263" name="Google Shape;263;p25"/>
          <p:cNvPicPr preferRelativeResize="0"/>
          <p:nvPr/>
        </p:nvPicPr>
        <p:blipFill rotWithShape="1">
          <a:blip r:embed="rId5">
            <a:alphaModFix/>
          </a:blip>
          <a:srcRect b="0" l="0" r="0" t="0"/>
          <a:stretch/>
        </p:blipFill>
        <p:spPr>
          <a:xfrm>
            <a:off x="6191250" y="2807940"/>
            <a:ext cx="2619375" cy="2457450"/>
          </a:xfrm>
          <a:prstGeom prst="rect">
            <a:avLst/>
          </a:prstGeom>
          <a:noFill/>
          <a:ln>
            <a:noFill/>
          </a:ln>
        </p:spPr>
      </p:pic>
      <p:pic>
        <p:nvPicPr>
          <p:cNvPr descr="image.png" id="264" name="Google Shape;264;p25"/>
          <p:cNvPicPr preferRelativeResize="0"/>
          <p:nvPr/>
        </p:nvPicPr>
        <p:blipFill rotWithShape="1">
          <a:blip r:embed="rId5">
            <a:alphaModFix/>
          </a:blip>
          <a:srcRect b="0" l="0" r="0" t="0"/>
          <a:stretch/>
        </p:blipFill>
        <p:spPr>
          <a:xfrm>
            <a:off x="9001125" y="2807940"/>
            <a:ext cx="2619375" cy="2457450"/>
          </a:xfrm>
          <a:prstGeom prst="rect">
            <a:avLst/>
          </a:prstGeom>
          <a:noFill/>
          <a:ln>
            <a:noFill/>
          </a:ln>
        </p:spPr>
      </p:pic>
      <p:sp>
        <p:nvSpPr>
          <p:cNvPr id="265" name="Google Shape;265;p25"/>
          <p:cNvSpPr txBox="1"/>
          <p:nvPr/>
        </p:nvSpPr>
        <p:spPr>
          <a:xfrm>
            <a:off x="766048" y="3703290"/>
            <a:ext cx="2230278"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F5F5"/>
                </a:solidFill>
                <a:latin typeface="Urbanist"/>
                <a:ea typeface="Urbanist"/>
                <a:cs typeface="Urbanist"/>
                <a:sym typeface="Urbanist"/>
              </a:rPr>
              <a:t>SIFT</a:t>
            </a:r>
            <a:endParaRPr/>
          </a:p>
        </p:txBody>
      </p:sp>
      <p:sp>
        <p:nvSpPr>
          <p:cNvPr id="266" name="Google Shape;266;p25"/>
          <p:cNvSpPr txBox="1"/>
          <p:nvPr/>
        </p:nvSpPr>
        <p:spPr>
          <a:xfrm>
            <a:off x="819150" y="4217640"/>
            <a:ext cx="2124075"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Phát hiện đặc trưng bất biến.</a:t>
            </a:r>
            <a:endParaRPr/>
          </a:p>
        </p:txBody>
      </p:sp>
      <p:sp>
        <p:nvSpPr>
          <p:cNvPr id="267" name="Google Shape;267;p25"/>
          <p:cNvSpPr txBox="1"/>
          <p:nvPr/>
        </p:nvSpPr>
        <p:spPr>
          <a:xfrm>
            <a:off x="3575923" y="3703290"/>
            <a:ext cx="2230278"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F5F5"/>
                </a:solidFill>
                <a:latin typeface="Urbanist"/>
                <a:ea typeface="Urbanist"/>
                <a:cs typeface="Urbanist"/>
                <a:sym typeface="Urbanist"/>
              </a:rPr>
              <a:t>Matching</a:t>
            </a:r>
            <a:endParaRPr/>
          </a:p>
        </p:txBody>
      </p:sp>
      <p:sp>
        <p:nvSpPr>
          <p:cNvPr id="268" name="Google Shape;268;p25"/>
          <p:cNvSpPr txBox="1"/>
          <p:nvPr/>
        </p:nvSpPr>
        <p:spPr>
          <a:xfrm>
            <a:off x="3629025" y="4217640"/>
            <a:ext cx="2124075"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Đối sánh &amp; Lọc cặp điểm (RANSAC).</a:t>
            </a:r>
            <a:endParaRPr/>
          </a:p>
        </p:txBody>
      </p:sp>
      <p:sp>
        <p:nvSpPr>
          <p:cNvPr id="269" name="Google Shape;269;p25"/>
          <p:cNvSpPr txBox="1"/>
          <p:nvPr/>
        </p:nvSpPr>
        <p:spPr>
          <a:xfrm>
            <a:off x="6385798" y="3703290"/>
            <a:ext cx="2230278"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F5F5"/>
                </a:solidFill>
                <a:latin typeface="Urbanist"/>
                <a:ea typeface="Urbanist"/>
                <a:cs typeface="Urbanist"/>
                <a:sym typeface="Urbanist"/>
              </a:rPr>
              <a:t>Homography</a:t>
            </a:r>
            <a:endParaRPr/>
          </a:p>
        </p:txBody>
      </p:sp>
      <p:sp>
        <p:nvSpPr>
          <p:cNvPr id="270" name="Google Shape;270;p25"/>
          <p:cNvSpPr txBox="1"/>
          <p:nvPr/>
        </p:nvSpPr>
        <p:spPr>
          <a:xfrm>
            <a:off x="6438900" y="4217640"/>
            <a:ext cx="2124075"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Tính toán ma trận biến đổi.</a:t>
            </a:r>
            <a:endParaRPr/>
          </a:p>
        </p:txBody>
      </p:sp>
      <p:sp>
        <p:nvSpPr>
          <p:cNvPr id="271" name="Google Shape;271;p25"/>
          <p:cNvSpPr txBox="1"/>
          <p:nvPr/>
        </p:nvSpPr>
        <p:spPr>
          <a:xfrm>
            <a:off x="9195673" y="3703290"/>
            <a:ext cx="2230278"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F5F5"/>
                </a:solidFill>
                <a:latin typeface="Urbanist"/>
                <a:ea typeface="Urbanist"/>
                <a:cs typeface="Urbanist"/>
                <a:sym typeface="Urbanist"/>
              </a:rPr>
              <a:t>Stitching</a:t>
            </a:r>
            <a:endParaRPr/>
          </a:p>
        </p:txBody>
      </p:sp>
      <p:sp>
        <p:nvSpPr>
          <p:cNvPr id="272" name="Google Shape;272;p25"/>
          <p:cNvSpPr txBox="1"/>
          <p:nvPr/>
        </p:nvSpPr>
        <p:spPr>
          <a:xfrm>
            <a:off x="9248775" y="4217640"/>
            <a:ext cx="2124075"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0E0E0"/>
                </a:solidFill>
                <a:latin typeface="Urbanist"/>
                <a:ea typeface="Urbanist"/>
                <a:cs typeface="Urbanist"/>
                <a:sym typeface="Urbanist"/>
              </a:rPr>
              <a:t>Biến đổi &amp; Pha trộn ảnh.</a:t>
            </a:r>
            <a:endParaRPr/>
          </a:p>
        </p:txBody>
      </p:sp>
      <p:pic>
        <p:nvPicPr>
          <p:cNvPr descr="image.png" id="273" name="Google Shape;273;p25"/>
          <p:cNvPicPr preferRelativeResize="0"/>
          <p:nvPr/>
        </p:nvPicPr>
        <p:blipFill rotWithShape="1">
          <a:blip r:embed="rId6">
            <a:alphaModFix/>
          </a:blip>
          <a:srcRect b="0" l="0" r="0" t="0"/>
          <a:stretch/>
        </p:blipFill>
        <p:spPr>
          <a:xfrm>
            <a:off x="1690687" y="3084165"/>
            <a:ext cx="381000" cy="381000"/>
          </a:xfrm>
          <a:prstGeom prst="rect">
            <a:avLst/>
          </a:prstGeom>
          <a:noFill/>
          <a:ln>
            <a:noFill/>
          </a:ln>
        </p:spPr>
      </p:pic>
      <p:pic>
        <p:nvPicPr>
          <p:cNvPr descr="image.png" id="274" name="Google Shape;274;p25"/>
          <p:cNvPicPr preferRelativeResize="0"/>
          <p:nvPr/>
        </p:nvPicPr>
        <p:blipFill rotWithShape="1">
          <a:blip r:embed="rId7">
            <a:alphaModFix/>
          </a:blip>
          <a:srcRect b="0" l="0" r="0" t="0"/>
          <a:stretch/>
        </p:blipFill>
        <p:spPr>
          <a:xfrm>
            <a:off x="4452937" y="3084165"/>
            <a:ext cx="476250" cy="381000"/>
          </a:xfrm>
          <a:prstGeom prst="rect">
            <a:avLst/>
          </a:prstGeom>
          <a:noFill/>
          <a:ln>
            <a:noFill/>
          </a:ln>
        </p:spPr>
      </p:pic>
      <p:pic>
        <p:nvPicPr>
          <p:cNvPr descr="image.png" id="275" name="Google Shape;275;p25"/>
          <p:cNvPicPr preferRelativeResize="0"/>
          <p:nvPr/>
        </p:nvPicPr>
        <p:blipFill rotWithShape="1">
          <a:blip r:embed="rId8">
            <a:alphaModFix/>
          </a:blip>
          <a:srcRect b="0" l="0" r="0" t="0"/>
          <a:stretch/>
        </p:blipFill>
        <p:spPr>
          <a:xfrm>
            <a:off x="7358062" y="3084165"/>
            <a:ext cx="285750" cy="381000"/>
          </a:xfrm>
          <a:prstGeom prst="rect">
            <a:avLst/>
          </a:prstGeom>
          <a:noFill/>
          <a:ln>
            <a:noFill/>
          </a:ln>
        </p:spPr>
      </p:pic>
      <p:pic>
        <p:nvPicPr>
          <p:cNvPr descr="image.png" id="276" name="Google Shape;276;p25"/>
          <p:cNvPicPr preferRelativeResize="0"/>
          <p:nvPr/>
        </p:nvPicPr>
        <p:blipFill rotWithShape="1">
          <a:blip r:embed="rId9">
            <a:alphaModFix/>
          </a:blip>
          <a:srcRect b="0" l="0" r="0" t="0"/>
          <a:stretch/>
        </p:blipFill>
        <p:spPr>
          <a:xfrm>
            <a:off x="10072687" y="3084165"/>
            <a:ext cx="476250" cy="381000"/>
          </a:xfrm>
          <a:prstGeom prst="rect">
            <a:avLst/>
          </a:prstGeom>
          <a:noFill/>
          <a:ln>
            <a:noFill/>
          </a:ln>
        </p:spPr>
      </p:pic>
      <p:sp>
        <p:nvSpPr>
          <p:cNvPr id="277" name="Google Shape;277;p25"/>
          <p:cNvSpPr txBox="1"/>
          <p:nvPr/>
        </p:nvSpPr>
        <p:spPr>
          <a:xfrm>
            <a:off x="571500" y="381000"/>
            <a:ext cx="11601450"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5F5F5"/>
                </a:solidFill>
                <a:latin typeface="Urbanist"/>
                <a:ea typeface="Urbanist"/>
                <a:cs typeface="Urbanist"/>
                <a:sym typeface="Urbanist"/>
              </a:rPr>
              <a:t>Tóm tắt quy trình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descr="image.png" id="282" name="Google Shape;282;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3" name="Google Shape;283;p26"/>
          <p:cNvSpPr txBox="1"/>
          <p:nvPr/>
        </p:nvSpPr>
        <p:spPr>
          <a:xfrm>
            <a:off x="2609627" y="2412125"/>
            <a:ext cx="6972600" cy="1154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7500">
                <a:solidFill>
                  <a:srgbClr val="DEFF9A"/>
                </a:solidFill>
                <a:latin typeface="Urbanist"/>
                <a:ea typeface="Urbanist"/>
                <a:cs typeface="Urbanist"/>
                <a:sym typeface="Urbanist"/>
              </a:rPr>
              <a:t>Demo Code </a:t>
            </a:r>
            <a:endParaRPr/>
          </a:p>
        </p:txBody>
      </p:sp>
      <p:sp>
        <p:nvSpPr>
          <p:cNvPr id="284" name="Google Shape;284;p26"/>
          <p:cNvSpPr txBox="1"/>
          <p:nvPr/>
        </p:nvSpPr>
        <p:spPr>
          <a:xfrm>
            <a:off x="4066430" y="3916709"/>
            <a:ext cx="4058989" cy="3199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800" u="none" cap="none" strike="noStrike">
                <a:solidFill>
                  <a:srgbClr val="E0E0E0"/>
                </a:solidFill>
                <a:latin typeface="Urbanist"/>
                <a:ea typeface="Urbanist"/>
                <a:cs typeface="Urbanist"/>
                <a:sym typeface="Urbanist"/>
              </a:rPr>
              <a:t>Cảm ơn bạn đã theo dõi bài thuyết trình.</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